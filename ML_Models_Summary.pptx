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45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Machine Learning Models</a:t>
            </a:r>
          </a:p>
          <a:p>
            <a:pPr>
              <a:defRPr sz="5400" b="1">
                <a:solidFill>
                  <a:srgbClr val="4FC3F7"/>
                </a:solidFill>
              </a:defRPr>
            </a:pPr>
            <a:r>
              <a:t>&amp; Data Preprocessing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0B0C0"/>
                </a:solidFill>
              </a:defRPr>
            </a:pPr>
            <a:r>
              <a:t>Ironhack Data Analytics Bootcamp — Week 4 &amp; 5 Summary</a:t>
            </a:r>
          </a:p>
          <a:p>
            <a:pPr>
              <a:defRPr sz="1600">
                <a:solidFill>
                  <a:srgbClr val="707088"/>
                </a:solidFill>
              </a:defRPr>
            </a:pPr>
            <a:r>
              <a:t>Supervised &amp; Unsupervised Learning | Normalization | Standardization | Regularization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023360"/>
            <a:ext cx="27432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5029200"/>
            <a:ext cx="2286000" cy="5029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 Numerical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5029200"/>
            <a:ext cx="2286000" cy="50292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 Categorical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4FC3F7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Supervised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3657600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406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Supervised Learning — Regression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3662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Predicting continuous numerical values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2685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Linear &amp; Polynomial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60020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Simple Linear Regression (1 feature)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Multiple Linear Regression (≥2 features)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Polynomial Regression (higher-order terms)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Uses: sklearn LinearRegression, statsmodels OLS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Datasets: Boston Housing, Diabetes, Auto-mpg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Simple/Multiple LR: fit_intercept=True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Polynomial: degree (controls curve complexity)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OLS: formula='y ~ x1 + x2 + ...'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37947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Tree-Based Regressors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0820" y="189738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Decision Tree Regressor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Random Forest Regressor (ensemble)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Gradient Boosting Regressor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AdaBoost Regressor (weak learners)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Datasets: California Housing, Diabetes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DT: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min_samples_split</a:t>
            </a:r>
            <a:r>
              <a:rPr dirty="0"/>
              <a:t>, </a:t>
            </a:r>
            <a:r>
              <a:rPr dirty="0" err="1"/>
              <a:t>min_samples_leaf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RF: </a:t>
            </a:r>
            <a:r>
              <a:rPr dirty="0" err="1"/>
              <a:t>n_estimators</a:t>
            </a:r>
            <a:r>
              <a:rPr dirty="0"/>
              <a:t>=100,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max_features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GBM: </a:t>
            </a:r>
            <a:r>
              <a:rPr dirty="0" err="1"/>
              <a:t>n_estimators</a:t>
            </a:r>
            <a:r>
              <a:rPr dirty="0"/>
              <a:t>=100, </a:t>
            </a:r>
            <a:r>
              <a:rPr dirty="0" err="1"/>
              <a:t>learning_rate</a:t>
            </a:r>
            <a:r>
              <a:rPr dirty="0"/>
              <a:t>=0.1, </a:t>
            </a:r>
            <a:r>
              <a:rPr dirty="0" err="1"/>
              <a:t>max_depth</a:t>
            </a:r>
            <a:r>
              <a:rPr dirty="0"/>
              <a:t>=3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AdaBoost: </a:t>
            </a:r>
            <a:r>
              <a:rPr dirty="0" err="1"/>
              <a:t>base_estimator</a:t>
            </a:r>
            <a:r>
              <a:rPr dirty="0"/>
              <a:t>=DT, </a:t>
            </a:r>
            <a:r>
              <a:rPr dirty="0" err="1"/>
              <a:t>n_estimators</a:t>
            </a:r>
            <a:r>
              <a:rPr dirty="0"/>
              <a:t>=50, </a:t>
            </a:r>
            <a:r>
              <a:rPr dirty="0" err="1"/>
              <a:t>learning_rate</a:t>
            </a:r>
            <a:r>
              <a:rPr dirty="0"/>
              <a:t>=1.0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68040" cy="2863483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t>Other Regressors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78684" y="164592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KNN Regressor (distance-based)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Metrics: R², MSE, RMSE, MAE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train_test_split (80/20 or 75/25)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All models predict continuous output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Feature: Correlation matrix for selection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KNN: n_neighbors=5, weights='uniform'/'distance', p=2 (Euclidean)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train_test_split: test_size=0.2/0.25, random_state=42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81363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Supervised Learning — Classification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44112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rPr dirty="0"/>
              <a:t>Predicting discrete categorical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1089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Linear &amp; Distance-Based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4650" y="1828953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CATEGORICAL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Logistic Regression (binary/multi-class)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KNN Classifier (k-nearest neighbors)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Linear SVC (Support Vector Classifier)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Hyperparameter tuning (k, max_depth)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Datasets: Breast Cancer, Iris, Digits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LogisticRegression: C=1.0, penalty='l2', solver='lbfgs', max_iter=100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KNN Classifier: n_neighbors (tuned 1→30), weights, metric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LinearSVC: C=1.0, loss='squared_hinge', max_iter=1000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39"/>
            <a:ext cx="3566160" cy="4354753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Tree &amp; Ensemble Classifiers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06540" y="1988821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CATEGORICAL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Decision Tree Classifier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Random Forest Classifier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Gradient Boosting Classifier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AdaBoost Classifier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 (feature importance)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DT: </a:t>
            </a:r>
            <a:r>
              <a:rPr dirty="0" err="1"/>
              <a:t>max_depth</a:t>
            </a:r>
            <a:r>
              <a:rPr dirty="0"/>
              <a:t> (tuned 1→30), criterion='</a:t>
            </a:r>
            <a:r>
              <a:rPr dirty="0" err="1"/>
              <a:t>gini</a:t>
            </a:r>
            <a:r>
              <a:rPr dirty="0"/>
              <a:t>'/'entropy'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RF: </a:t>
            </a:r>
            <a:r>
              <a:rPr dirty="0" err="1"/>
              <a:t>n_estimators</a:t>
            </a:r>
            <a:r>
              <a:rPr dirty="0"/>
              <a:t>=100,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max_features</a:t>
            </a:r>
            <a:r>
              <a:rPr dirty="0"/>
              <a:t>, bootstrap=True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GBM: </a:t>
            </a:r>
            <a:r>
              <a:rPr dirty="0" err="1"/>
              <a:t>n_estimators</a:t>
            </a:r>
            <a:r>
              <a:rPr dirty="0"/>
              <a:t>=100, </a:t>
            </a:r>
            <a:r>
              <a:rPr dirty="0" err="1"/>
              <a:t>learning_rate</a:t>
            </a:r>
            <a:r>
              <a:rPr dirty="0"/>
              <a:t>=0.1, </a:t>
            </a:r>
            <a:r>
              <a:rPr dirty="0" err="1"/>
              <a:t>max_depth</a:t>
            </a:r>
            <a:r>
              <a:rPr dirty="0"/>
              <a:t>=3, subsample=1.0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AdaBoost: </a:t>
            </a:r>
            <a:r>
              <a:rPr dirty="0" err="1"/>
              <a:t>base_estimator</a:t>
            </a:r>
            <a:r>
              <a:rPr dirty="0"/>
              <a:t>=DT(</a:t>
            </a:r>
            <a:r>
              <a:rPr dirty="0" err="1"/>
              <a:t>max_depth</a:t>
            </a:r>
            <a:r>
              <a:rPr dirty="0"/>
              <a:t>=1), </a:t>
            </a:r>
            <a:r>
              <a:rPr dirty="0" err="1"/>
              <a:t>n_estimators</a:t>
            </a:r>
            <a:r>
              <a:rPr dirty="0"/>
              <a:t>=50, </a:t>
            </a:r>
            <a:r>
              <a:rPr dirty="0" err="1"/>
              <a:t>lr</a:t>
            </a:r>
            <a:r>
              <a:rPr dirty="0"/>
              <a:t>=1.0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XGBoost</a:t>
            </a:r>
            <a:r>
              <a:rPr dirty="0"/>
              <a:t>: </a:t>
            </a:r>
            <a:r>
              <a:rPr dirty="0" err="1"/>
              <a:t>n_estimators</a:t>
            </a:r>
            <a:r>
              <a:rPr dirty="0"/>
              <a:t>, </a:t>
            </a:r>
            <a:r>
              <a:rPr dirty="0" err="1"/>
              <a:t>max_depth</a:t>
            </a:r>
            <a:r>
              <a:rPr dirty="0"/>
              <a:t>, </a:t>
            </a:r>
            <a:r>
              <a:rPr dirty="0" err="1"/>
              <a:t>learning_rate</a:t>
            </a:r>
            <a:r>
              <a:rPr dirty="0"/>
              <a:t>, gamma, subsample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310896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t>Evaluation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1600200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Accuracy, Precision, Recall, F1-Score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Confusion Matrix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Balanced Accuracy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Classification Report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Feature Importance (tree-based)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classification_report(y_true, y_pred)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confusion_matrix(y_true, y_pred)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balanced_accuracy_score(y_true, y_pred)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model.feature_importances_ (tree 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66BB6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Unsupervised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3657600" cy="54864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Unsupervised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Finding patterns without labeled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60769"/>
            <a:ext cx="3566160" cy="3624921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Clustering 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7500" y="164592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K-Means (centroid-based, Elbow method)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DBSCAN (density-based, eps &amp; min_samples)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Agglomerative Clustering (hierarchical)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Dendrogram visualization (scipy)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Datasets: Wholesale, Census, Bakery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KMeans: n_clusters (Elbow-optimized), init='k-means++', max_iter=300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DBSCAN: eps=0.4/0.5, min_samples=10, metric='euclidean'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Agglomerative: n_clusters, linkage='ward'/'complete'/'average'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Dendrogram: scipy.cluster.hierarchy.dendrogram(Z)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39"/>
            <a:ext cx="3566160" cy="3274657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B47BC"/>
                </a:solidFill>
              </a:defRPr>
            </a:pPr>
            <a:r>
              <a:t>Dimensionality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PCA (Principal Component Analysis)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Reduces dummy variables → continuous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Used as preprocessing BEFORE K-Means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n_components=4 for census data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Improves clustering quality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PCA: n_components=4, svd_solver='auto'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pca.explained_variance_ratio_ (variance per component)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pca.components_ (loadings matrix)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pca.fit_transform(X) → reduced-dimension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344649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t>Evaluation &amp; Comparison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1348740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CATEGORICAL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Silhouette Score (clustering quality)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Inertia (K-Means elbow plot)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Scatter plot visual comparison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GroupBy</a:t>
            </a:r>
            <a:r>
              <a:rPr dirty="0"/>
              <a:t> analysis post-clustering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K-Means vs DBSCAN comparison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silhouette_score</a:t>
            </a:r>
            <a:r>
              <a:rPr dirty="0"/>
              <a:t>(X, labels) → [-1, 1]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kmeans.inertia</a:t>
            </a:r>
            <a:r>
              <a:rPr dirty="0"/>
              <a:t>_ (sum of squared distances)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kmeans.labels</a:t>
            </a:r>
            <a:r>
              <a:rPr dirty="0"/>
              <a:t>_ (cluster assignment per point)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kmeans.cluster_centers</a:t>
            </a:r>
            <a:r>
              <a:rPr dirty="0"/>
              <a:t>_ (centroid coordinates)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 b="1">
                <a:solidFill>
                  <a:srgbClr val="FFA726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Data Preprocessing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3657600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Normalization &amp; Standardization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Scaling features for model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39"/>
            <a:ext cx="5303520" cy="3943581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📏 Normalization (Scale to fixed range)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64592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RobustScaler</a:t>
            </a:r>
            <a:r>
              <a:rPr dirty="0"/>
              <a:t> — scales using median &amp; IQR (robust to outliers)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Applied before Logistic Regression (websites dataset)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Improved accuracy from 92.97% → 93.75%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MinMaxScaler</a:t>
            </a:r>
            <a:r>
              <a:rPr dirty="0"/>
              <a:t> — scales to [0,1] range (NOT used in coursework)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Normalizer — L1/L2 row normalization (NOT used in coursework)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PowerTransformer</a:t>
            </a:r>
            <a:r>
              <a:rPr dirty="0"/>
              <a:t>, </a:t>
            </a:r>
            <a:r>
              <a:rPr dirty="0" err="1"/>
              <a:t>QuantileTransformer</a:t>
            </a:r>
            <a:r>
              <a:rPr dirty="0"/>
              <a:t> (NOT used)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RobustScaler</a:t>
            </a:r>
            <a:r>
              <a:rPr dirty="0"/>
              <a:t>: </a:t>
            </a:r>
            <a:r>
              <a:rPr dirty="0" err="1"/>
              <a:t>with_centering</a:t>
            </a:r>
            <a:r>
              <a:rPr dirty="0"/>
              <a:t>=True, </a:t>
            </a:r>
            <a:r>
              <a:rPr dirty="0" err="1"/>
              <a:t>with_scaling</a:t>
            </a:r>
            <a:r>
              <a:rPr dirty="0"/>
              <a:t>=True, </a:t>
            </a:r>
            <a:r>
              <a:rPr dirty="0" err="1"/>
              <a:t>quantile_range</a:t>
            </a:r>
            <a:r>
              <a:rPr dirty="0"/>
              <a:t>=(25,75)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MinMaxScaler</a:t>
            </a:r>
            <a:r>
              <a:rPr dirty="0"/>
              <a:t>: </a:t>
            </a:r>
            <a:r>
              <a:rPr dirty="0" err="1"/>
              <a:t>feature_range</a:t>
            </a:r>
            <a:r>
              <a:rPr dirty="0"/>
              <a:t>=(0,1)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Normalizer: norm='l2'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39"/>
            <a:ext cx="5303520" cy="3477175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📐 Standardization (Scale to μ=0, σ=1)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988821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StandardScaler — subtract mean, divide by std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Applied before K-Means &amp; DBSCAN clustering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Wholesale Customers dataset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Reason: diverse value ranges cause clustering issues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Key difference: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Normalization → bounded range [0,1] or [-1,1]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Standardization → unbounded, centered at 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StandardScaler: with_mean=True, with_std=True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.fit(X) → compute μ and σ | .transform(X) → apply scaling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.fit_transform(X) → both in one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12898"/>
            <a:ext cx="45681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088"/>
                </a:solidFill>
              </a:defRPr>
            </a:pPr>
            <a:r>
              <a:rPr dirty="0"/>
              <a:t>💡 Both methods are applied ONLY to numerical features —</a:t>
            </a:r>
            <a:endParaRPr lang="en-US" dirty="0"/>
          </a:p>
          <a:p>
            <a:pPr>
              <a:defRPr sz="1400" i="1">
                <a:solidFill>
                  <a:srgbClr val="707088"/>
                </a:solidFill>
              </a:defRPr>
            </a:pPr>
            <a:r>
              <a:rPr dirty="0"/>
              <a:t> categorical features must be encoded separately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Regularization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Preventing overfitting by penalizing model complexity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299204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5350"/>
                </a:solidFill>
              </a:defRPr>
            </a:pPr>
            <a:r>
              <a:t>L1 Regularization (Lasso)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57792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Adds |coefficient| penalty to loss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Drives some coefficients to exactly 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Automatic feature selection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α=1 demonstrated (Boston Housing)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Train R²=0.695 | Test R²=0.667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Lasso(alpha=1.0) — higher α = stronger penalty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max_iter</a:t>
            </a:r>
            <a:r>
              <a:rPr dirty="0"/>
              <a:t>=1000, </a:t>
            </a:r>
            <a:r>
              <a:rPr dirty="0" err="1"/>
              <a:t>tol</a:t>
            </a:r>
            <a:r>
              <a:rPr dirty="0"/>
              <a:t>=1e-4, </a:t>
            </a:r>
            <a:r>
              <a:rPr dirty="0" err="1"/>
              <a:t>fit_intercept</a:t>
            </a:r>
            <a:r>
              <a:rPr dirty="0"/>
              <a:t>=True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lasso.coef</a:t>
            </a:r>
            <a:r>
              <a:rPr dirty="0"/>
              <a:t>_ → some exactly 0 (sparse solution)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9260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L2 Regularization (Ridge)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0820" y="1312072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Adds coefficient² penalty to loss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Shrinks coefficients toward 0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No feature elimination (all kept)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α=1 demonstrated (Boston Housing)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Train R²=0.748 | Test R²=0.666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Ridge(alpha=1.0) — higher α = stronger shrinkage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max_iter=None, tol=1e-4, solver='auto'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ridge.coef_ → all non-zero but shrunk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566160" cy="27889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B47BC"/>
                </a:solidFill>
              </a:defRPr>
            </a:pPr>
            <a:r>
              <a:t>Comparison &amp; Elastic 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47020" y="1295349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No Regularization → overfitting risk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Lasso → sparse models, feature selection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Ridge → stable coefficients, all features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Elastic Net → combines L1 + L2 (theoretical)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α controls penalty strength (cross-validate!)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ElasticNet(alpha=1.0, l1_ratio=0.5)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l1_ratio=0 → Ridge | l1_ratio=1 → Lasso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Use LassoCV / RidgeCV for auto α 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Categorical Data Encoding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Converting categories into numerical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336392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t>Manual &amp; Binary Encoding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988820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CATEGORICAL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Manual dictionary mapping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Sex: {'female':0, 'male':1}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WHOIS_COUNTRY consolidation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np.where() for binary categories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11 bakery item categories → 0/1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Simple, transparent, no extra library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dict = {'female':0, 'male':1}; df['Sex'] = df['Sex'].map(dict)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np.where(condition, 1, 0) → binary flag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pd.Categorical(df['col']).codes → quick integer encoding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540" y="1463039"/>
            <a:ext cx="3566160" cy="3513997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3420" y="14737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rPr dirty="0"/>
              <a:t>One-Hot Encoding (</a:t>
            </a:r>
            <a:r>
              <a:rPr dirty="0" err="1"/>
              <a:t>get_dummies</a:t>
            </a:r>
            <a:r>
              <a:rPr dirty="0"/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00200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pd.get_dummies</a:t>
            </a:r>
            <a:r>
              <a:rPr dirty="0"/>
              <a:t>() — pandas method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Creates binary columns per category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drop_first</a:t>
            </a:r>
            <a:r>
              <a:rPr dirty="0"/>
              <a:t>=True avoids dummy trap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Used for: CHARSET, SERVER, COUNTRY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Also: day column in bakery data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pd.get_dummies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, columns=['col'], </a:t>
            </a:r>
            <a:r>
              <a:rPr dirty="0" err="1"/>
              <a:t>drop_first</a:t>
            </a:r>
            <a:r>
              <a:rPr dirty="0"/>
              <a:t>=True)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dtype</a:t>
            </a:r>
            <a:r>
              <a:rPr dirty="0"/>
              <a:t>=int (0/1 output)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prefix='cat_' → names new columns as </a:t>
            </a:r>
            <a:r>
              <a:rPr dirty="0" err="1"/>
              <a:t>cat_A</a:t>
            </a:r>
            <a:r>
              <a:rPr dirty="0"/>
              <a:t>, </a:t>
            </a:r>
            <a:r>
              <a:rPr dirty="0" err="1"/>
              <a:t>cat_B</a:t>
            </a:r>
            <a:r>
              <a:rPr dirty="0"/>
              <a:t>, ...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drop_first</a:t>
            </a:r>
            <a:r>
              <a:rPr dirty="0"/>
              <a:t>=True → k-1 columns for k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39"/>
            <a:ext cx="3566160" cy="3452627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3162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5350"/>
                </a:solidFill>
              </a:defRPr>
            </a:pPr>
            <a:r>
              <a:rPr dirty="0"/>
              <a:t>Other Encoding (NOT used in course)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1289213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LabelEncoder</a:t>
            </a:r>
            <a:r>
              <a:rPr dirty="0"/>
              <a:t> (</a:t>
            </a:r>
            <a:r>
              <a:rPr dirty="0" err="1"/>
              <a:t>sklearn</a:t>
            </a:r>
            <a:r>
              <a:rPr dirty="0"/>
              <a:t>) — ordinal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OrdinalEncoder</a:t>
            </a:r>
            <a:r>
              <a:rPr dirty="0"/>
              <a:t> (</a:t>
            </a:r>
            <a:r>
              <a:rPr dirty="0" err="1"/>
              <a:t>sklearn</a:t>
            </a:r>
            <a:r>
              <a:rPr dirty="0"/>
              <a:t>) — ordered cats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OneHotEncoder</a:t>
            </a:r>
            <a:r>
              <a:rPr dirty="0"/>
              <a:t> (</a:t>
            </a:r>
            <a:r>
              <a:rPr dirty="0" err="1"/>
              <a:t>sklearn</a:t>
            </a:r>
            <a:r>
              <a:rPr dirty="0"/>
              <a:t>) — pipeline-ready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Target Encoding — use target mean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Frequency Encoding — use count/</a:t>
            </a:r>
            <a:r>
              <a:rPr dirty="0" err="1"/>
              <a:t>freq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LabelEncoder</a:t>
            </a:r>
            <a:r>
              <a:rPr dirty="0"/>
              <a:t>().</a:t>
            </a:r>
            <a:r>
              <a:rPr dirty="0" err="1"/>
              <a:t>fit_transform</a:t>
            </a:r>
            <a:r>
              <a:rPr dirty="0"/>
              <a:t>(y) → 0,1,2,...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OrdinalEncoder</a:t>
            </a:r>
            <a:r>
              <a:rPr dirty="0"/>
              <a:t>(categories=[['</a:t>
            </a:r>
            <a:r>
              <a:rPr dirty="0" err="1"/>
              <a:t>low','med','high</a:t>
            </a:r>
            <a:r>
              <a:rPr dirty="0"/>
              <a:t>']])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OneHotEncoder</a:t>
            </a:r>
            <a:r>
              <a:rPr dirty="0"/>
              <a:t>(</a:t>
            </a:r>
            <a:r>
              <a:rPr dirty="0" err="1"/>
              <a:t>sparse_output</a:t>
            </a:r>
            <a:r>
              <a:rPr dirty="0"/>
              <a:t>=False, </a:t>
            </a:r>
            <a:r>
              <a:rPr dirty="0" err="1"/>
              <a:t>handle_unknown</a:t>
            </a:r>
            <a:r>
              <a:rPr dirty="0"/>
              <a:t>='ignore')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Numerical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Handling missing values, reshaping, and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3679692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Missing Value Handling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68930" y="1376203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Median imputation: </a:t>
            </a:r>
            <a:r>
              <a:rPr dirty="0" err="1"/>
              <a:t>fillna</a:t>
            </a:r>
            <a:r>
              <a:rPr dirty="0"/>
              <a:t>(median)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Age column in Titanic dataset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Dropna</a:t>
            </a:r>
            <a:r>
              <a:rPr dirty="0"/>
              <a:t>: remove rows with missing </a:t>
            </a:r>
            <a:r>
              <a:rPr dirty="0" err="1"/>
              <a:t>vals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Used in Auto-mpg, websites data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Drop columns with &gt;50% missing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Linear interpolation (mentioned)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df</a:t>
            </a:r>
            <a:r>
              <a:rPr dirty="0"/>
              <a:t>['col'].</a:t>
            </a:r>
            <a:r>
              <a:rPr dirty="0" err="1"/>
              <a:t>fillna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['col'].median(), </a:t>
            </a:r>
            <a:r>
              <a:rPr dirty="0" err="1"/>
              <a:t>inplace</a:t>
            </a:r>
            <a:r>
              <a:rPr dirty="0"/>
              <a:t>=True)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df.dropna</a:t>
            </a:r>
            <a:r>
              <a:rPr dirty="0"/>
              <a:t>(axis=0, </a:t>
            </a:r>
            <a:r>
              <a:rPr dirty="0" err="1"/>
              <a:t>inplace</a:t>
            </a:r>
            <a:r>
              <a:rPr dirty="0"/>
              <a:t>=True)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df.dropna</a:t>
            </a:r>
            <a:r>
              <a:rPr dirty="0"/>
              <a:t>(axis=1, thresh=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)*0.5) → drop cols &gt;50% missing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df.interpolate</a:t>
            </a:r>
            <a:r>
              <a:rPr dirty="0"/>
              <a:t>(method='linear') → fill gaps linearly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85121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Reshaping &amp; Type Conversion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0820" y="134874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NUMERICAL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8994" y="2011680"/>
            <a:ext cx="3390338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X.values.reshape</a:t>
            </a:r>
            <a:r>
              <a:rPr dirty="0"/>
              <a:t>(-1, 1) for </a:t>
            </a:r>
            <a:r>
              <a:rPr dirty="0" err="1"/>
              <a:t>sklearn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1D → 2D array conversion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</a:t>
            </a:r>
            <a:r>
              <a:rPr dirty="0" err="1"/>
              <a:t>pd.to_numeric</a:t>
            </a:r>
            <a:r>
              <a:rPr dirty="0"/>
              <a:t>(errors='coerce')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</a:t>
            </a:r>
            <a:r>
              <a:rPr dirty="0" err="1"/>
              <a:t>horse_power</a:t>
            </a:r>
            <a:r>
              <a:rPr dirty="0"/>
              <a:t>, weather columns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  → Object → numeric coercion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X.values.reshape</a:t>
            </a:r>
            <a:r>
              <a:rPr dirty="0"/>
              <a:t>(-1, 1) → (n,) → (n,1)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pd.to_numeric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['col'], errors='coerce')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errors='coerce' → invalid values become </a:t>
            </a:r>
            <a:r>
              <a:rPr dirty="0" err="1"/>
              <a:t>NaN</a:t>
            </a:r>
            <a:endParaRPr dirty="0"/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rPr dirty="0"/>
              <a:t>• ⚙️ </a:t>
            </a:r>
            <a:r>
              <a:rPr dirty="0" err="1"/>
              <a:t>df</a:t>
            </a:r>
            <a:r>
              <a:rPr dirty="0"/>
              <a:t>['col'].</a:t>
            </a:r>
            <a:r>
              <a:rPr dirty="0" err="1"/>
              <a:t>astype</a:t>
            </a:r>
            <a:r>
              <a:rPr dirty="0"/>
              <a:t>('float64') → explicit type 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39"/>
            <a:ext cx="3566160" cy="3679693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00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B47BC"/>
                </a:solidFill>
              </a:defRPr>
            </a:pPr>
            <a:r>
              <a:t>Feature Selection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160020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NUMERICAL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Correlation matrix + sns.heatmap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Drop highly correlated columns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RFE (Recursive Feature Elimination)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Explained but not fully executed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Feature importance from tree models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  → DT, RF, XGBoost built-in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df.corr() → Pearson correlation matrix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sns.heatmap(df.corr(), annot=True, cmap='coolwarm')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RFE(estimator, n_features_to_select=5).fit_transform(X,y)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model.feature_importances_ → array of importance scores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📊 Complete Summary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All models and methods across Week 4–5 coursework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5669280" cy="18745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✅ Supervised — Regression (Numerical Output)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6300" y="1952152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Linear Regression | Multiple Linear | Polynomial (theory)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Ridge (α=1.0) | Lasso (α=1.0) | Elastic Net (α=1.0, l1_ratio=0.5)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DT (max_depth) | RF (n_estimators=100) | GBM (lr=0.1) | AdaBoost (n=50)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KNN Regressor (n_neighbors=5)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669280" cy="2133191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✅ Supervised — Classification (Categorical Output)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46080" y="1335024"/>
            <a:ext cx="1143000" cy="320040"/>
          </a:xfrm>
          <a:prstGeom prst="round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LogisticRegression (C=1.0) | KNN (n_neighbors tuned 1→30) | LinearSVC (C=1.0)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DT (max_depth tuned 1→30) | RF (n_estimators=100) | GBM (lr=0.1) | AdaBoost (n=50)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XGBoost (feature importance only: n_estimators, max_depth, lr, gamma)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Metrics: accuracy, precision, recall, F1, confusion_matrix, balanced_accuracy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14800"/>
            <a:ext cx="5669280" cy="18745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251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BB6A"/>
                </a:solidFill>
              </a:defRPr>
            </a:pPr>
            <a:r>
              <a:t>✅ Unsupervised Learning (No Labels)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25196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NUM→CAT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091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K-Means (n_clusters via Elbow) | DBSCAN (eps=0.4, min_samples=10)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Agglomerative (n_clusters, linkage='ward') | Dendrogram (scipy)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PCA (n_components=4) | explained_variance_ratio_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Evaluation: silhouette_score, inertia_, labels_, cluster_centers_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669280" cy="2133191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251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726"/>
                </a:solidFill>
              </a:defRPr>
            </a:pPr>
            <a:r>
              <a:t>✅ Preprocessing Methods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07040" y="4251960"/>
            <a:ext cx="1143000" cy="32004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091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Normalization: RobustScaler (quantile_range) | MinMaxScaler (feature_range)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StandardScaler (with_mean, with_std) | .fit() → .transform()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Encoding: .map(dict), np.where(), pd.get_dummies(drop_first=True)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Missing: fillna(median), dropna(thresh=), interpolate(), to_numeric(errors='coerce')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Feature Selection: df.corr() + heatmap, RFE, .feature_importances_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0477" y="274320"/>
            <a:ext cx="73692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🔢 Numerical vs Categorical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6345" y="868680"/>
            <a:ext cx="4681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How each method is categorized by data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0657" y="1280160"/>
            <a:ext cx="1319743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Method /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966564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66964" y="1280160"/>
            <a:ext cx="888116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Input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55080" y="1280160"/>
            <a:ext cx="1094825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Output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49906" y="1280160"/>
            <a:ext cx="1791260" cy="20116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⚙️ Key Hyperparameters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0657" y="1481328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Linear Regression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81328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6964" y="1481328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55080" y="1481328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906" y="1481328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fit_intercept=True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80657" y="1682496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Ridge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682496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6964" y="1682496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5080" y="1682496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9906" y="1682496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alpha=1.0, solver='auto'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80657" y="1883664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Lasso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883664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6964" y="1883664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55080" y="1883664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906" y="1883664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alpha=1.0, max_iter=1000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80657" y="2084832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Elastic Net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084832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6964" y="2084832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55080" y="2084832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9906" y="2084832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alpha=1.0, l1_ratio=0.5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0657" y="2286000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Polynomial 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286000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6964" y="2286000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55080" y="2286000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9906" y="2286000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degree (poly order)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80657" y="2487168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Decision Tree Regressor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2487168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6964" y="2487168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55080" y="2487168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9906" y="2487168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max_depth, min_samples_split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80657" y="2688336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Random Forest Regressor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2688336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6964" y="2688336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55080" y="2688336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49906" y="2688336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n_estimators=100, max_depth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80657" y="2889504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Gradient Boosting Reg.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2889504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6964" y="2889504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55080" y="2889504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49906" y="2889504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n_estimators=100, lr=0.1, max_depth=3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80657" y="3090672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AdaBoost Regressor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0" y="3090672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6964" y="3090672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55080" y="3090672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49906" y="3090672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n_estimators=50, lr=1.0, base=DT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80657" y="3291840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KNN Regressor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3291840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6964" y="3291840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55080" y="3291840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49906" y="3291840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n_neighbors=5, weights, p=2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80657" y="3493008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Logistic Regression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3493008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6964" y="3493008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55080" y="3493008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9906" y="3493008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C=1.0, penalty='l2', solver='lbfgs'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80657" y="3694176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KNN Classifier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3694176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6964" y="3694176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55080" y="3694176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49906" y="3694176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n_neighbors (tuned 1→30)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80657" y="3895344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Linear SVC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3895344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6964" y="3895344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55080" y="3895344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49906" y="3895344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C=1.0, loss='squared_hinge'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80657" y="4096512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Decision Tree Classifier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0" y="4096512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6964" y="4096512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55080" y="4096512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49906" y="4096512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max_depth (tuned 1→30), criterion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80657" y="4297680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Random Forest Classifier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0" y="4297680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6964" y="4297680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55080" y="4297680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49906" y="4297680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n_estimators=100, max_depth, bootstrap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80657" y="4498848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Gradient Boosting Class.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0" y="4498848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66964" y="4498848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55080" y="4498848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49906" y="4498848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n_estimators=100, lr=0.1, max_depth=3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80657" y="4700016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AdaBoost Classifier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0" y="4700016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66964" y="4700016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55080" y="4700016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49906" y="4700016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n_estimators=50, lr=1.0, base=DT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80657" y="4901184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XGBoost Classifier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0" y="4901184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Supervised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6964" y="4901184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 + Cat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55080" y="4901184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149906" y="4901184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n_estimators, max_depth, lr, gamma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880657" y="5102352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K-Means Clustering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0" y="5102352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66BB6A"/>
                </a:solidFill>
              </a:defRPr>
            </a:pPr>
            <a:r>
              <a:t>Unsupervised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166964" y="5102352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55080" y="5102352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49906" y="5102352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n_clusters (Elbow), init='k-means++'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80657" y="5303520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DBSCAN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00400" y="5303520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66BB6A"/>
                </a:solidFill>
              </a:defRPr>
            </a:pPr>
            <a:r>
              <a:t>Unsupervised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66964" y="5303520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55080" y="5303520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49906" y="5303520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eps=0.4/0.5, min_samples=10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80657" y="5504688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Agglomerative Clustering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00400" y="5504688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66BB6A"/>
                </a:solidFill>
              </a:defRPr>
            </a:pPr>
            <a:r>
              <a:t>Unsupervised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166964" y="5504688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55080" y="5504688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Categorical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9906" y="5504688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n_clusters, linkage='ward'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80657" y="5705856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PCA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200400" y="5705856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66BB6A"/>
                </a:solidFill>
              </a:defRPr>
            </a:pPr>
            <a:r>
              <a:t>Unsupervised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166964" y="5705856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55080" y="5705856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49906" y="5705856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n_components=4, svd_solver='auto'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80657" y="5907024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RobustScaler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200400" y="5907024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Preprocessing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66964" y="5907024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55080" y="5907024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49906" y="5907024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quantile_range=(25,75)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80657" y="6108192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StandardScaler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200400" y="6108192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A726"/>
                </a:solidFill>
              </a:defRPr>
            </a:pPr>
            <a:r>
              <a:t>Preprocessing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166964" y="6108192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Numerical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55080" y="6108192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149906" y="6108192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with_mean=True, with_std=True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880657" y="6309360"/>
            <a:ext cx="1319743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pd.get_dummies()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00400" y="6309360"/>
            <a:ext cx="966564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AB47BC"/>
                </a:solidFill>
              </a:defRPr>
            </a:pPr>
            <a:r>
              <a:t>Encoding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166964" y="6309360"/>
            <a:ext cx="888116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Categorical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055080" y="6309360"/>
            <a:ext cx="1094825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49906" y="6309360"/>
            <a:ext cx="1791260" cy="201168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drop_first=True, dtype=int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80657" y="6510528"/>
            <a:ext cx="1319743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Manual Mapping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200400" y="6510528"/>
            <a:ext cx="966564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AB47BC"/>
                </a:solidFill>
              </a:defRPr>
            </a:pPr>
            <a:r>
              <a:t>Encoding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166964" y="6510528"/>
            <a:ext cx="888116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B0B0C0"/>
                </a:solidFill>
              </a:defRPr>
            </a:pPr>
            <a:r>
              <a:t>Categorical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55080" y="6510528"/>
            <a:ext cx="1094825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4FC3F7"/>
                </a:solidFill>
              </a:defRPr>
            </a:pPr>
            <a:r>
              <a:t>Numerical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149906" y="6510528"/>
            <a:ext cx="1791260" cy="20116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707088"/>
                </a:solidFill>
              </a:defRPr>
            </a:pPr>
            <a:r>
              <a:t>dict or np.where()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0B0C0"/>
                </a:solidFill>
              </a:defRPr>
            </a:pPr>
            <a:r>
              <a:t>What we learned across Week 4 &amp;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3907127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FC3F7"/>
                </a:solidFill>
              </a:defRPr>
            </a:pPr>
            <a:r>
              <a:t>📌 Core Concepts Covered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Regression: 4 linear + 4 tree-based + 1 KNN regressor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Classification: 3 linear + 5 ensemble classifiers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Unsupervised: 3 clustering + 1 dimensionality reduction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Regularization: L1 (α, max_iter) &amp; L2 (α, solver) &amp; ElasticNet (α, l1_ratio)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Normalization: RobustScaler (quantile_range) | MinMaxScaler (feature_range)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Standardization: StandardScaler (with_mean, with_std)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Categorical encoding: .map(), np.where(), pd.get_dummies(drop_first=True)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Missing data: fillna(), dropna(), interpolate(), to_numeric()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Feature selection: df.corr(), RFE(n_features_to_select), .feature_importances_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⚙️ Most common hyperparams: n_estimators, max_depth, learning_rate, alpha, C, n_neighbors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303520" cy="2943263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5350"/>
                </a:solidFill>
              </a:defRPr>
            </a:pPr>
            <a:r>
              <a:t>⚠️ Gaps — Topics NOT 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0574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SVR, SGDRegressor, Bayesian Ridge regression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SVC with RBF/Poly kernels, Naive Bayes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Gaussian Mixture Models, t-SNE, UMAP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MinMaxScaler, LabelEncoder, OrdinalEncoder (in practice)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Cross-validation (cross_val_score)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GridSearchCV / RandomizedSearchCV for hyperparameter tuning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ROC/AUC curves for classification evaluation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Pipelines (sklearn.pipeline.Pipeline)</a:t>
            </a:r>
          </a:p>
          <a:p>
            <a:pPr>
              <a:spcAft>
                <a:spcPts val="400"/>
              </a:spcAft>
              <a:defRPr sz="1200">
                <a:solidFill>
                  <a:srgbClr val="B0B0C0"/>
                </a:solidFill>
              </a:defRPr>
            </a:pPr>
            <a:r>
              <a:t>• Train/Validation/Test split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3235</Words>
  <Application>Microsoft Office PowerPoint</Application>
  <PresentationFormat>Widescreen</PresentationFormat>
  <Paragraphs>433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cici</dc:creator>
  <cp:keywords/>
  <dc:description>generated using python-pptx</dc:description>
  <cp:lastModifiedBy>Octavian L .</cp:lastModifiedBy>
  <cp:revision>2</cp:revision>
  <dcterms:created xsi:type="dcterms:W3CDTF">2013-01-27T09:14:16Z</dcterms:created>
  <dcterms:modified xsi:type="dcterms:W3CDTF">2026-07-15T14:54:14Z</dcterms:modified>
  <cp:category/>
</cp:coreProperties>
</file>